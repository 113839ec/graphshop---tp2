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 de IA (%)</c:v>
                </c:pt>
              </c:strCache>
            </c:strRef>
          </c:tx>
          <c:spPr>
            <a:solidFill>
              <a:srgbClr val="63B3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B3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8D39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6AD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Consultas Cypher</c:v>
                  </c:pt>
                  <c:pt idx="1">
                    <c:v>Datos de Muestra</c:v>
                  </c:pt>
                  <c:pt idx="2">
                    <c:v>Estructura del Código</c:v>
                  </c:pt>
                  <c:pt idx="3">
                    <c:v>Dashboard Swing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2514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" name="Image 0" descr="C:/Users/emanu/IdeaProjects/BDII-TP2/utn_log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"/>
            <a:ext cx="2423160" cy="4663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52360" y="1143000"/>
            <a:ext cx="1005840" cy="10058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458200" y="2148840"/>
            <a:ext cx="-1417320" cy="7772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58200" y="2148840"/>
            <a:ext cx="393192" cy="1124712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0" y="2926080"/>
            <a:ext cx="658368" cy="88696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51392" y="3273552"/>
            <a:ext cx="-1152144" cy="539496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49440" y="640080"/>
            <a:ext cx="1005840" cy="1005840"/>
          </a:xfrm>
          <a:prstGeom prst="ellipse">
            <a:avLst/>
          </a:prstGeom>
          <a:solidFill>
            <a:srgbClr val="63B3ED">
              <a:alpha val="80000"/>
            </a:srgbClr>
          </a:solidFill>
          <a:ln w="19050">
            <a:solidFill>
              <a:srgbClr val="63B3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0" y="1737360"/>
            <a:ext cx="822960" cy="822960"/>
          </a:xfrm>
          <a:prstGeom prst="ellipse">
            <a:avLst/>
          </a:prstGeom>
          <a:solidFill>
            <a:srgbClr val="68D391">
              <a:alpha val="80000"/>
            </a:srgbClr>
          </a:solidFill>
          <a:ln w="19050">
            <a:solidFill>
              <a:srgbClr val="68D39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731520" cy="731520"/>
          </a:xfrm>
          <a:prstGeom prst="ellipse">
            <a:avLst/>
          </a:prstGeom>
          <a:solidFill>
            <a:srgbClr val="F6AD55">
              <a:alpha val="80000"/>
            </a:srgbClr>
          </a:solidFill>
          <a:ln w="19050">
            <a:solidFill>
              <a:srgbClr val="F6AD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0" y="2926080"/>
            <a:ext cx="694944" cy="694944"/>
          </a:xfrm>
          <a:prstGeom prst="ellipse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3520440"/>
            <a:ext cx="585216" cy="585216"/>
          </a:xfrm>
          <a:prstGeom prst="ellipse">
            <a:avLst/>
          </a:prstGeom>
          <a:solidFill>
            <a:srgbClr val="63B3ED">
              <a:alpha val="80000"/>
            </a:srgbClr>
          </a:solidFill>
          <a:ln w="19050">
            <a:solidFill>
              <a:srgbClr val="63B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640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User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0467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Order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675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Product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503920" y="29260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Category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406640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Neo4j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73152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GraphShop</a:t>
            </a:r>
            <a:endParaRPr lang="en-US" sz="6400" dirty="0"/>
          </a:p>
        </p:txBody>
      </p:sp>
      <p:sp>
        <p:nvSpPr>
          <p:cNvPr id="20" name="Text 17"/>
          <p:cNvSpPr/>
          <p:nvPr/>
        </p:nvSpPr>
        <p:spPr>
          <a:xfrm>
            <a:off x="45720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sobre Neo4j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720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II · Trabajo Práctico 2 · UTN FRC · 2025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283464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017520"/>
            <a:ext cx="1325880" cy="502920"/>
          </a:xfrm>
          <a:prstGeom prst="rect">
            <a:avLst/>
          </a:prstGeom>
          <a:solidFill>
            <a:srgbClr val="63B3ED">
              <a:alpha val="20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B3ED"/>
                </a:solidFill>
              </a:rPr>
              <a:t>Amarilla, Franco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920240" y="3017520"/>
            <a:ext cx="1325880" cy="502920"/>
          </a:xfrm>
          <a:prstGeom prst="rect">
            <a:avLst/>
          </a:prstGeom>
          <a:solidFill>
            <a:srgbClr val="68D391">
              <a:alpha val="20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20240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D391"/>
                </a:solidFill>
              </a:rPr>
              <a:t>Cortez, Emanuel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83280" y="3017520"/>
            <a:ext cx="1325880" cy="502920"/>
          </a:xfrm>
          <a:prstGeom prst="rect">
            <a:avLst/>
          </a:prstGeom>
          <a:solidFill>
            <a:srgbClr val="F6AD55">
              <a:alpha val="20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3017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</a:rPr>
              <a:t>Carreggio, Juan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4434840"/>
            <a:ext cx="1508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4434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Java 17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121408" y="4434840"/>
            <a:ext cx="1508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21408" y="4434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Neo4j 5.x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85616" y="4434840"/>
            <a:ext cx="1508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85616" y="4434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Cypher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49824" y="4434840"/>
            <a:ext cx="1508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49824" y="4434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Java Swing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14032" y="4434840"/>
            <a:ext cx="15087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14032" y="4434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Maven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4206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Stack tecnológico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Amarilla  ·  Descripción del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e-commerce necesita grafos?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2976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54864" cy="1051560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43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3B3ED"/>
                </a:solidFill>
              </a:rPr>
              <a:t>Filtrado Colaborativo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¿Qué otros productos compraron los usuarios que compraron lo mismo que yo?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976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54864" cy="105156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8D391"/>
                </a:solidFill>
              </a:rPr>
              <a:t>Similitud de Usuarios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¿Qué tan similares son dos usuarios según su historial de compras?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29768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84448"/>
            <a:ext cx="54864" cy="105156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AD55"/>
                </a:solidFill>
              </a:rPr>
              <a:t>Abandono de Carrito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¿Qué productos vio un usuario pero nunca compró? (remarketing)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170432"/>
            <a:ext cx="39319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8181"/>
                </a:solidFill>
              </a:rPr>
              <a:t>SQL Relacional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62763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JOIN cascadeados para cada consulta compleja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Rendimiento O(n×m) por cada JOIN adicional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Tablas puente artificiales (pedido_items,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NOT IN (SELECT ...) costoso para patrones negativos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ALTER TABLE para agregar propiedades nuevas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3127248"/>
            <a:ext cx="34747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8D391"/>
                </a:solidFill>
              </a:rPr>
              <a:t>Neo4j — Grafos Nativos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58444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Traversal nativo O(1) por salto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Relaciones como ciudadanos de primera clase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Consultas negativas directas (NOT EXISTS)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Esquema flexible sin migraciones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Cypher: legible, expresivo, conciso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Amarilla  ·  Diseño de la Base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Grafo — Nodos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tipos de nodos · 95 instancias en total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4160520" cy="411480"/>
          </a:xfrm>
          <a:prstGeom prst="rect">
            <a:avLst/>
          </a:prstGeom>
          <a:solidFill>
            <a:srgbClr val="63B3ED">
              <a:alpha val="25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(:User)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25 usuarios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 (PK)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String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String (único)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04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edad: Integer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ciudad: String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4160520" cy="411480"/>
          </a:xfrm>
          <a:prstGeom prst="rect">
            <a:avLst/>
          </a:prstGeom>
          <a:solidFill>
            <a:srgbClr val="68D391">
              <a:alpha val="25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(:Product)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1188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30 productos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64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 (PK)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911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String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157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descripcion: String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404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precio: Double (ARS)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stock: Integer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108960"/>
            <a:ext cx="4160520" cy="411480"/>
          </a:xfrm>
          <a:prstGeom prst="rect">
            <a:avLst/>
          </a:prstGeom>
          <a:solidFill>
            <a:srgbClr val="F6AD55">
              <a:alpha val="25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(:Order)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35 pedidos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 (PK)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fecha: String (ISO 8601)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estado: COMPLETADO|PENDIENTE…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325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montoTotal: Double (ARS)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metodoPago: String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4160520" cy="411480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(:Category)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80960" y="3108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5 categorías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584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String (PK)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String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descripcion: String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43251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Electrónica · Moda · Hogar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4572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Deportes · Libros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Amarilla  ·  Diseño de la Base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Grafo — Relaciones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tipos de relaciones · ~176 instancias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45720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30552" y="2130552"/>
            <a:ext cx="1435608" cy="521208"/>
          </a:xfrm>
          <a:prstGeom prst="line">
            <a:avLst/>
          </a:prstGeom>
          <a:noFill/>
          <a:ln w="22860">
            <a:solidFill>
              <a:srgbClr val="F6A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5436" y="22539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6AD55"/>
                </a:solidFill>
              </a:rPr>
              <a:t>REALIZO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88920" y="2651760"/>
            <a:ext cx="777240" cy="1143000"/>
          </a:xfrm>
          <a:prstGeom prst="line">
            <a:avLst/>
          </a:prstGeom>
          <a:noFill/>
          <a:ln w="22860">
            <a:solidFill>
              <a:srgbClr val="68D3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30861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D391"/>
                </a:solidFill>
              </a:rPr>
              <a:t>CONTIENE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53312" y="3685032"/>
            <a:ext cx="1435608" cy="109728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8196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PERTENECE_A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30552" y="2130552"/>
            <a:ext cx="658368" cy="1664208"/>
          </a:xfrm>
          <a:prstGeom prst="line">
            <a:avLst/>
          </a:prstGeom>
          <a:noFill/>
          <a:ln w="22860">
            <a:solidFill>
              <a:srgbClr val="63B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2825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B3ED"/>
                </a:solidFill>
              </a:rPr>
              <a:t>VISTO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30552" y="2130552"/>
            <a:ext cx="658368" cy="1664208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56816" y="2825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RESENO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691640" y="1691640"/>
            <a:ext cx="877824" cy="877824"/>
          </a:xfrm>
          <a:prstGeom prst="ellipse">
            <a:avLst/>
          </a:prstGeom>
          <a:solidFill>
            <a:srgbClr val="63B3ED">
              <a:alpha val="85000"/>
            </a:srgbClr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69164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User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731520" cy="731520"/>
          </a:xfrm>
          <a:prstGeom prst="ellipse">
            <a:avLst/>
          </a:prstGeom>
          <a:solidFill>
            <a:srgbClr val="F6AD55">
              <a:alpha val="85000"/>
            </a:srgbClr>
          </a:solidFill>
          <a:ln w="25400">
            <a:solidFill>
              <a:srgbClr val="F6A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Order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3383280"/>
            <a:ext cx="822960" cy="822960"/>
          </a:xfrm>
          <a:prstGeom prst="ellipse">
            <a:avLst/>
          </a:prstGeom>
          <a:solidFill>
            <a:srgbClr val="68D391">
              <a:alpha val="85000"/>
            </a:srgbClr>
          </a:solidFill>
          <a:ln w="25400">
            <a:solidFill>
              <a:srgbClr val="68D3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Product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3337560"/>
            <a:ext cx="694944" cy="694944"/>
          </a:xfrm>
          <a:prstGeom prst="ellipse">
            <a:avLst/>
          </a:prstGeom>
          <a:solidFill>
            <a:srgbClr val="A78BFA">
              <a:alpha val="85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3375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</a:rPr>
              <a:t>Category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207008"/>
            <a:ext cx="3749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1207008"/>
            <a:ext cx="45720" cy="6217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243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[:REALIZO]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1508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→ Order  ·  sin propiedades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1920240"/>
            <a:ext cx="3749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74920" y="1920240"/>
            <a:ext cx="45720" cy="62179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1956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[:CONTIENE]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221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Order → Product  ·  cantidad, precioUnitario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2633472"/>
            <a:ext cx="3749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74920" y="2633472"/>
            <a:ext cx="45720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2670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[:PERTENECE_A]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0368" y="2935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 → Category  ·  sin propiedades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74920" y="3346704"/>
            <a:ext cx="3749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74920" y="3346704"/>
            <a:ext cx="45720" cy="62179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[:VISTO]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36484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→ Product  ·  timestamp, duracionSegundos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74920" y="4059936"/>
            <a:ext cx="374904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74920" y="4059936"/>
            <a:ext cx="45720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40965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[:RESENO]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0368" y="43616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→ Product  ·  calificacion, comentario, fecha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Amarilla  ·  Diseño de la Base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 Índices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de integridad y rendimiento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0700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45720" cy="62179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435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CONSTRAINT unique_user_id    FOR (u:User)     REQUIRE u.id IS UNIQUE;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1298448"/>
            <a:ext cx="1554480" cy="438912"/>
          </a:xfrm>
          <a:prstGeom prst="rect">
            <a:avLst/>
          </a:prstGeom>
          <a:solidFill>
            <a:srgbClr val="63B3ED">
              <a:alpha val="18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2984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B3ED"/>
                </a:solidFill>
              </a:rPr>
              <a:t>Evita usuarios duplicados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38528"/>
            <a:ext cx="45720" cy="62179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7510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CONSTRAINT unique_product_id FOR (p:Product)  REQUIRE p.id IS UNIQUE;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2029968"/>
            <a:ext cx="1554480" cy="438912"/>
          </a:xfrm>
          <a:prstGeom prst="rect">
            <a:avLst/>
          </a:prstGeom>
          <a:solidFill>
            <a:srgbClr val="68D391">
              <a:alpha val="18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0299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D391"/>
                </a:solidFill>
              </a:rPr>
              <a:t>Evita productos duplicados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70048"/>
            <a:ext cx="45720" cy="6217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0662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CONSTRAINT unique_order_id   FOR (o:Order)    REQUIRE o.id IS UNIQUE;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2761488"/>
            <a:ext cx="1554480" cy="438912"/>
          </a:xfrm>
          <a:prstGeom prst="rect">
            <a:avLst/>
          </a:prstGeom>
          <a:solidFill>
            <a:srgbClr val="F6AD55">
              <a:alpha val="18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7614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6AD55"/>
                </a:solidFill>
              </a:rPr>
              <a:t>Evita pedidos duplicados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40156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01568"/>
            <a:ext cx="45720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814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CONSTRAINT unique_category_id FOR (c:Category) REQUIRE c.id IS UNIQUE;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3493008"/>
            <a:ext cx="1554480" cy="43891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</a:rPr>
              <a:t>Categorías sin duplicación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13308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33088"/>
            <a:ext cx="45720" cy="62179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6966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user_email_index       FOR (u:User) ON (u.email);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0" y="4224528"/>
            <a:ext cx="1554480" cy="438912"/>
          </a:xfrm>
          <a:prstGeom prst="rect">
            <a:avLst/>
          </a:prstGeom>
          <a:solidFill>
            <a:srgbClr val="63B3ED">
              <a:alpha val="18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42245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B3ED"/>
                </a:solidFill>
              </a:rPr>
              <a:t>Búsqueda O(1) por email — login rápido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773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IF NOT EXISTS — los constraints son idempotentes: seguros para re-ejecutar en cada inicio de la aplicación.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Cortez  ·  Consultas Cypher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Consultas Cypher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traversal simple hasta patrones negativos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8503920" cy="274320"/>
          </a:xfrm>
          <a:prstGeom prst="rect">
            <a:avLst/>
          </a:prstGeom>
          <a:solidFill>
            <a:srgbClr val="F6AD55">
              <a:alpha val="20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</a:rPr>
              <a:t>Consulta 4  ·  Usuarios Inactivos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Patrón negativo: detecta los 5 usuarios sin pedidos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490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6AD55"/>
                </a:solidFill>
              </a:rPr>
              <a:t>Cypher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67335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(u:User)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(u)-[:REALIZO]-&gt;(:Order)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u.nombre, u.email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1444752"/>
            <a:ext cx="4206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SQL equivalente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167335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u.* FROM usuarios u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pedidos p ON u.id = p.user_id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p.id IS NULL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8503920" cy="274320"/>
          </a:xfrm>
          <a:prstGeom prst="rect">
            <a:avLst/>
          </a:prstGeom>
          <a:solidFill>
            <a:srgbClr val="68D391">
              <a:alpha val="20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</a:rPr>
              <a:t>Consulta 7  ·  Top Productos Vendidos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Traversal 2 saltos con agregación sobre relación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770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8D391"/>
                </a:solidFill>
              </a:rPr>
              <a:t>Cypher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29535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(o:Order)-[c:CONTIENE]-&gt;(p:Product)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o.estado = 'COMPLETADO'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p.nombre, SUM(c.cantidad) AS total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 DESC LIMIT 10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2724912"/>
            <a:ext cx="4206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2770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SQL equivalente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295351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p.nombre, SUM(oi.cantidad)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pedidos 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pedido_items oi ON o.id=oi.pedido_id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productos p ON p.id=oi.producto_id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o.estado='COMPLETADO'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p.nombre ORDER BY 2 DESC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8503920" cy="274320"/>
          </a:xfrm>
          <a:prstGeom prst="rect">
            <a:avLst/>
          </a:prstGeom>
          <a:solidFill>
            <a:srgbClr val="FC8181">
              <a:alpha val="20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8181"/>
                </a:solidFill>
              </a:rPr>
              <a:t>Consulta 8  ·  Vieron pero no Compraron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730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Remarketing: combina traversal positivo + negativo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050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8181"/>
                </a:solidFill>
              </a:rPr>
              <a:t>Cypher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423367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(u:User)-[:VISTO]-&gt;(p:Product {id: $id})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(u)-[:REALIZO]-&gt;(:Order)-[:CONTIENE]-&gt;(p)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u.nombre, u.email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4005072"/>
            <a:ext cx="4206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4050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SQL equivalente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4233672"/>
            <a:ext cx="4041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u.nombre FROM usuarios u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vistas v ON u.id=v.usuario_id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v.producto_id=?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u.id NOT IN 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pi.usuario_id FROM pedidos 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pedido_items pi ON p.id=pi.pedido_id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pi.producto_id=?)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Cortez  ·  Algoritmos de Grafo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1 — Filtrado Colaborativo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de 4 saltos · recomendaciones personalizadas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3B3ED"/>
                </a:solidFill>
              </a:rPr>
              <a:t>1 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3B3ED"/>
                </a:solidFill>
              </a:rPr>
              <a:t>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 REALIZO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</a:rPr>
              <a:t>2  Sus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6AD55"/>
                </a:solidFill>
              </a:rPr>
              <a:t>Pedidos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 CONTIENE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8D391"/>
                </a:solidFill>
              </a:rPr>
              <a:t>3  Usuarios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68D391"/>
                </a:solidFill>
              </a:rPr>
              <a:t>Similares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 REALIZO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4  Productos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Nuevos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1207008"/>
            <a:ext cx="64008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12984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B3ED"/>
                </a:solidFill>
              </a:rPr>
              <a:t>Cypher — Filtrado Colaborativo completo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1627632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Paso 1: productos ya comprados por el usuario objetivo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(target:User {id: $userId})-[:REALIZO]-&gt;(o)-[:CONTIENE]-&gt;(mis:Product)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target, COLLECT(DISTINCT mis) AS misProductos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Paso 2: usuarios similares (comparten productos)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(otro:User)-[:REALIZO]-&gt;(o2)-[:CONTIENE]-&gt;(p)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otro &lt;&gt; target AND p IN misProductos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target, misProductos, otro, COUNT(DISTINCT p) AS enComun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enComun DESC LIMIT 8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Paso 3: productos que compraron los similares y el target NO tiene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(otro)-[:REALIZO]-&gt;(:Order)-[:CONTIENE]-&gt;(rec:Product)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rec IN misProductos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rec.nombre, COUNT(DISTINCT otro) AS votos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votos DESC LIMIT 10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63B3ED">
              <a:alpha val="15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B3ED"/>
                </a:solidFill>
              </a:rPr>
              <a:t>SQL equivalente requeriría: 4+ JOINs · 2 subconsultas correlacionadas · GROUP BY · HAVING · NOT IN (SELECT...)  — 20+ líneas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Cortez  ·  Algoritmos de Grafo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2 — Similitud de Jaccard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 parecidos son dos usuarios por sus compras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D391"/>
                </a:solidFill>
              </a:rPr>
              <a:t>Fórmula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Jaccard(A, B)  =  |A ∩ B|  /  |A ∪ B|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30428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8D391"/>
                </a:solidFill>
              </a:rPr>
              <a:t>1.0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23042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Mismos productos comprados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87121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AD55"/>
                </a:solidFill>
              </a:rPr>
              <a:t>0.5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87121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50% de productos en común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38144"/>
            <a:ext cx="41148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43814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8181"/>
                </a:solidFill>
              </a:rPr>
              <a:t>0.0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43814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Sin ningún producto en común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170432"/>
            <a:ext cx="41605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D391"/>
                </a:solidFill>
              </a:rPr>
              <a:t>Implementación en Cypher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1572768"/>
            <a:ext cx="3931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(u1:User {id: $userId})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-[:REALIZO]-&gt;(o1)-[:CONTIENE]-&gt;(p)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u1, COLLECT(DISTINCT id(p)) AS idsU1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(u2:User)-[:REALIZO]-&gt;(o2)-[:CONTIENE]-&gt;(p2)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u2 &lt;&gt; u1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u1, idsU1, u2, COLLECT(DISTINCT id(p2)) AS idsU2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u1, u2,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 IN idsU1 WHERE x IN idsU2] AS interseccion,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idsU1 + [x IN idsU2 WHERE NOT x IN idsU1] AS union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SIZE(interseccion) &gt; 0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u2.nombre,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round(toFloat(SIZE(interseccion)) / SIZE(union) * 100)/100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jaccard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jaccard DESC LIMIT 8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Uso de negocio: encontrar usuarios afines para campañas de email segmentadas · cross-selling inteligente · recomendaciones sociales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Cortez  ·  Comparación Técnica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vs SQL Relacional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directa para el dominio e-commerce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8503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Aspecto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170432"/>
            <a:ext cx="2926080" cy="347472"/>
          </a:xfrm>
          <a:prstGeom prst="rect">
            <a:avLst/>
          </a:prstGeom>
          <a:solidFill>
            <a:srgbClr val="68D391">
              <a:alpha val="15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D391"/>
                </a:solidFill>
              </a:rPr>
              <a:t>Neo4j (Grafos)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170432"/>
            <a:ext cx="2880360" cy="347472"/>
          </a:xfrm>
          <a:prstGeom prst="rect">
            <a:avLst/>
          </a:prstGeom>
          <a:solidFill>
            <a:srgbClr val="FC8181">
              <a:alpha val="15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17043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8181"/>
                </a:solidFill>
              </a:rPr>
              <a:t>SQL Relacional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517904"/>
            <a:ext cx="8503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179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Navegación de relaciones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99232" y="151790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Traversal nativo  O(1) por salto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1888" y="1517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JOIN con costo  O(n × 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002536"/>
            <a:ext cx="850392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02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Filtrado colaborativo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99232" y="200253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~15 líneas Cypher, traversal natural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61888" y="20025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4+ JOINs, subconsultas, 20+ líneas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Similitud de usuarios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99232" y="2487168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Operaciones de conjuntos nativas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61888" y="2487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Window functions avanzadas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850392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Patrones negativos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9232" y="2971800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NOT EXISTS { MATCH ... }  directo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61888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NOT IN (SELECT ...)  costoso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56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Modelado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99232" y="3456432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Esquema = dominio real (sin tablas puente)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61888" y="34564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Normalización + tablas puente artificiales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941064"/>
            <a:ext cx="850392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4106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Agregar propiedades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99232" y="394106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Sin migraciones: propiedad opcional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61888" y="39410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ALTER TABLE en producción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425696"/>
            <a:ext cx="8503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25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Rendimiento en grafos densos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99232" y="4425696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8D391"/>
                </a:solidFill>
              </a:rPr>
              <a:t>✓  Traversal no degrada con nodos no relacionados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61888" y="44256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C8181"/>
                </a:solidFill>
              </a:rPr>
              <a:t>✗  Full table scan sin índices selectivos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Cortez  ·  Análisis Crítico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Neo4j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SQL relacional y otras bases NoSQL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68D391">
              <a:alpha val="25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8D391"/>
                </a:solidFill>
              </a:rPr>
              <a:t>Ventajas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1627632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Relaciones como entidades de primera clase: sin JOINs artificiales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Consultas de red (4+ saltos) expresadas en pocas líneas de Cypher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Rendimiento constante en grafos densos — no depende de nodos no relacionados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Esquema flexible: agregar propiedades sin migraciones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Modelado intuitivo: el grafo refleja el dominio real del negocio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Potente para recomendaciones, detección de fraude, redes sociales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Neo4j Browser: visualización interactiva del grafo incluida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FC8181">
              <a:alpha val="25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C8181"/>
                </a:solidFill>
              </a:rPr>
              <a:t>Desventajas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627632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Community Edition: sin clustering ni backups automáticos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Menor ecosistema de herramientas vs SQL (BI, ORM, etc.)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Cypher: curva de aprendizaje inicial para equipos SQL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No ideal para datos altamente tabulares (contabilidad, ERP)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Menor rendimiento en consultas de tipo "toda la tabla"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Menor adopción empresarial vs PostgreSQL, MySQL, Oracle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Almacenamiento en memoria: costoso para grafos masivos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754880"/>
            <a:ext cx="850392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vs MongoDB (NoSQL documental): Neo4j supera en consultas de red; MongoDB es mejor para documentos anidados sin relaciones cruzadas.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Carreggio  · 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Backend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capas con patrón Singleton para la conexión Bolt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54864" cy="640080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070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B3ED"/>
                </a:solidFill>
              </a:rPr>
              <a:t>Presentación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2070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Main.java (consola)  ·  DashboardWindow.java (Swing)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0" y="184708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56816"/>
            <a:ext cx="5486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56816"/>
            <a:ext cx="54864" cy="64008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568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</a:rPr>
              <a:t>Servicio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5681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UserService · ProductService · OrderService · RecommendationService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0" y="25968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5486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06624"/>
            <a:ext cx="54864" cy="6400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0662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</a:rPr>
              <a:t>Repositorio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7066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UserRepository · ProductRepository · OrderRepository · RecommendationRepository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334670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5486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56432"/>
            <a:ext cx="54864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Configuración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34564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Neo4jConfig (Singleton) — conexión Bolt única en toda la 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0" y="409651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206240"/>
            <a:ext cx="54864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06240"/>
            <a:ext cx="54864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Base de Datos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11680" y="4206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Neo4j Community 5.x  ·  bolt://localhost:7687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207008"/>
            <a:ext cx="283464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Estructura de paquetes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1627632"/>
            <a:ext cx="2651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com.ecommerce/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Neo4jConfig.java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User.java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Product.java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*Repository.java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*Service.java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ReportService.java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ui/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DashboardWindow.java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20040" y="4736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Neo4jConfig — Singleton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4919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getInstance() · getSession() · verifyConnectivity() · AutoCloseable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Carreggio  ·  Dashboard Visual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 — 6 Pestañas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+ Graphics2D puro · tema oscuro · sin librerías externas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788920" cy="365760"/>
          </a:xfrm>
          <a:prstGeom prst="rect">
            <a:avLst/>
          </a:prstGeom>
          <a:solidFill>
            <a:srgbClr val="63B3ED">
              <a:alpha val="22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3B3ED"/>
                </a:solidFill>
              </a:rPr>
              <a:t>Tab 1  ·  Ingresos por Categoría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6093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Barras horizontales + torta con 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1704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170432"/>
            <a:ext cx="2788920" cy="365760"/>
          </a:xfrm>
          <a:prstGeom prst="rect">
            <a:avLst/>
          </a:prstGeom>
          <a:solidFill>
            <a:srgbClr val="68D391">
              <a:alpha val="22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8D391"/>
                </a:solidFill>
              </a:rPr>
              <a:t>Tab 2  ·  Top Clientes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74136" y="16093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Barras verticales + tabla con ranking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1704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170432"/>
            <a:ext cx="2788920" cy="365760"/>
          </a:xfrm>
          <a:prstGeom prst="rect">
            <a:avLst/>
          </a:prstGeom>
          <a:solidFill>
            <a:srgbClr val="F6AD55">
              <a:alpha val="22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AD55"/>
                </a:solidFill>
              </a:rPr>
              <a:t>Tab 3  ·  Calificaciones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18504" y="16093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Barras con semáforo (verde/ámbar/rojo)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99232"/>
            <a:ext cx="2788920" cy="365760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Tab 4  ·  Actividad del Sistema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4381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Torta de estados + productos más vistos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64408" y="29992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2999232"/>
            <a:ext cx="2788920" cy="365760"/>
          </a:xfrm>
          <a:prstGeom prst="rect">
            <a:avLst/>
          </a:prstGeom>
          <a:solidFill>
            <a:srgbClr val="FC8181">
              <a:alpha val="22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C8181"/>
                </a:solidFill>
              </a:rPr>
              <a:t>Tab 5  ·  Métodos de Pago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74136" y="34381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Barras + torta + KPI cards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2999232"/>
            <a:ext cx="2788920" cy="162763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2999232"/>
            <a:ext cx="2788920" cy="365760"/>
          </a:xfrm>
          <a:prstGeom prst="rect">
            <a:avLst/>
          </a:prstGeom>
          <a:solidFill>
            <a:srgbClr val="94A3B8">
              <a:alpha val="22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999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Tab 6  ·  Estadísticas + Esquema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18504" y="343814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7 KPI cards + diagrama del grafo Neo4j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Clases visuales propias: HBarChart · VBarChart · PieChart · RatingChart · SchemaDiagram  |  Inicio: java -jar graphshop.jar --dashboard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Carreggio  ·  Funcionalidades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para el Usuario Final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consola + dashboard visual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325880"/>
            <a:ext cx="475488" cy="475488"/>
          </a:xfrm>
          <a:prstGeom prst="ellipse">
            <a:avLst/>
          </a:prstGeom>
          <a:solidFill>
            <a:srgbClr val="63B3ED">
              <a:alpha val="25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B3ED"/>
                </a:solidFill>
              </a:rPr>
              <a:t>Cargar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14996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Inicializa el grafo con 25 usuarios, 30 productos y 35 pedidos realistas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325880"/>
            <a:ext cx="475488" cy="475488"/>
          </a:xfrm>
          <a:prstGeom prst="ellipse">
            <a:avLst/>
          </a:prstGeom>
          <a:solidFill>
            <a:srgbClr val="68D391">
              <a:alpha val="25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D39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</a:rPr>
              <a:t>Gestión de Usuarios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4996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Listar · buscar por email · detectar usuarios inactivos sin pedidos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12264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" y="2267712"/>
            <a:ext cx="475488" cy="475488"/>
          </a:xfrm>
          <a:prstGeom prst="ellipse">
            <a:avLst/>
          </a:prstGeom>
          <a:solidFill>
            <a:srgbClr val="F6AD55">
              <a:alpha val="25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</a:rPr>
              <a:t>Catálogo de Productos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3272" y="24414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Filtrar por categoría o rango de precio · top más vendidos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12264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2267712"/>
            <a:ext cx="475488" cy="47548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68112" y="2157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Pedidos e Historial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24414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Historial completo de compras de cualquier usuario con detalle de items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054096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3209544"/>
            <a:ext cx="475488" cy="475488"/>
          </a:xfrm>
          <a:prstGeom prst="ellipse">
            <a:avLst/>
          </a:prstGeom>
          <a:solidFill>
            <a:srgbClr val="FC8181">
              <a:alpha val="25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818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3272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8181"/>
                </a:solidFill>
              </a:rPr>
              <a:t>Recomendaciones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3272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Filtrado colaborativo (4 saltos) + Jaccard + products vistos no comprados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054096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3209544"/>
            <a:ext cx="475488" cy="475488"/>
          </a:xfrm>
          <a:prstGeom prst="ellipse">
            <a:avLst/>
          </a:prstGeom>
          <a:solidFill>
            <a:srgbClr val="63B3ED">
              <a:alpha val="25000"/>
            </a:srgbClr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68112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3B3ED"/>
                </a:solidFill>
              </a:rPr>
              <a:t>Reportes y Analítica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68112" y="3383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Ingresos por categoría · top clientes · calificaciones · estadísticas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995928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9768" y="4151376"/>
            <a:ext cx="475488" cy="475488"/>
          </a:xfrm>
          <a:prstGeom prst="ellipse">
            <a:avLst/>
          </a:prstGeom>
          <a:solidFill>
            <a:srgbClr val="68D391">
              <a:alpha val="25000"/>
            </a:srgbClr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D391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33272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8D391"/>
                </a:solidFill>
              </a:rPr>
              <a:t>Consultas Avanzadas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3272" y="4325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Demos interactivas de los algoritmos de grafo con Cypher explicado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995928"/>
            <a:ext cx="4224528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64608" y="4151376"/>
            <a:ext cx="475488" cy="475488"/>
          </a:xfrm>
          <a:prstGeom prst="ellipse">
            <a:avLst/>
          </a:prstGeom>
          <a:solidFill>
            <a:srgbClr val="F6AD55">
              <a:alpha val="25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AD55"/>
                </a:solidFill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68112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AD55"/>
                </a:solidFill>
              </a:rPr>
              <a:t>Dashboard Visual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68112" y="4325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C"/>
                </a:solidFill>
              </a:rPr>
              <a:t>Abre la ventana Swing con 6 pestañas de gráficos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Carreggio  ·  Uso de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en el Desarrollo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inteligente en cada etapa del proyecto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20040" y="118872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88720"/>
            <a:ext cx="40690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45720" cy="640080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19472" y="1216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3B3ED"/>
                </a:solidFill>
              </a:rPr>
              <a:t>Consultas Cypher (45%)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19472" y="1481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Generación de las 10 consultas · optimización de traversal · algoritmos Jaccard y colaborativo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938528"/>
            <a:ext cx="40690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938528"/>
            <a:ext cx="45720" cy="64008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9659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D391"/>
                </a:solidFill>
              </a:rPr>
              <a:t>Datos de Muestra (30%)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9472" y="22311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Generación de 25 usuarios argentinos · 30 productos realistas · 35 pedidos con relaciones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2688336"/>
            <a:ext cx="40690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688336"/>
            <a:ext cx="45720" cy="6400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19472" y="2715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AD55"/>
                </a:solidFill>
              </a:rPr>
              <a:t>Código Java (15%)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19472" y="29809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Estructura de servicios y repositorios · patrón Singleton · DataLoader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3438144"/>
            <a:ext cx="40690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438144"/>
            <a:ext cx="457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34655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Dashboard Swing (10%)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19472" y="3730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Diseño de componentes visuales · HBarChart · PieChart · RatingChart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Herramienta: Claude (Anthropic)  ·  Rol: asistente de código, no autor principal — todo el código fue revisado, entendido e integrado por el equipo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Carreggio  ·  Conclusión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07899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6187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B3ED"/>
                </a:solidFill>
              </a:rPr>
              <a:t>Neo4j es la herramienta correcta para este dominio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9105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Un e-commerce moderno vive de relaciones complejas entre usuarios, productos y pedidos. Neo4j convierte consultas de 20+ líneas SQL en traversals de 4-5 líneas Cypher.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423160"/>
            <a:ext cx="54864" cy="107899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963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8D391"/>
                </a:solidFill>
              </a:rPr>
              <a:t>Los algoritmos de grafo agregan valor real de negocio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82549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Filtrado colaborativo y Jaccard permiten recomendaciones personalizadas y segmentación de clientes — funcionalidades que diferencian un e-commerce moderno.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850392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F6AD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657600"/>
            <a:ext cx="54864" cy="10789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7307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AD55"/>
                </a:solidFill>
              </a:rPr>
              <a:t>Dashboard + Consola = aplicación completa y presentable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405993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La combinación de interfaz de consola interactiva y dashboard visual con gráficos en tiempo real demuestra el valor del almacenamiento y tratamiento de datos.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GraphShop  ·  Bases de Datos II  ·  TP2 2025  ·  UTN FRC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GraphShop — E-Commerce sobre Neo4j</dc:title>
  <dc:subject>PptxGenJS Presentation</dc:subject>
  <dc:creator>BDII TP2 — UTN FRC</dc:creator>
  <cp:lastModifiedBy>BDII TP2 — UTN FRC</cp:lastModifiedBy>
  <cp:revision>1</cp:revision>
  <dcterms:created xsi:type="dcterms:W3CDTF">2026-05-27T06:56:28Z</dcterms:created>
  <dcterms:modified xsi:type="dcterms:W3CDTF">2026-05-27T06:56:28Z</dcterms:modified>
</cp:coreProperties>
</file>